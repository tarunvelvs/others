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81" r:id="rId1"/>
  </p:sldMasterIdLst>
  <p:sldIdLst>
    <p:sldId id="256" r:id="rId2"/>
    <p:sldId id="257" r:id="rId3"/>
    <p:sldId id="258" r:id="rId4"/>
    <p:sldId id="259" r:id="rId5"/>
    <p:sldId id="260" r:id="rId6"/>
    <p:sldId id="261" r:id="rId7"/>
    <p:sldId id="270" r:id="rId8"/>
    <p:sldId id="262" r:id="rId9"/>
    <p:sldId id="263" r:id="rId10"/>
    <p:sldId id="264" r:id="rId11"/>
    <p:sldId id="266" r:id="rId12"/>
    <p:sldId id="267" r:id="rId13"/>
    <p:sldId id="268"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320" autoAdjust="0"/>
    <p:restoredTop sz="94660"/>
  </p:normalViewPr>
  <p:slideViewPr>
    <p:cSldViewPr snapToGrid="0">
      <p:cViewPr varScale="1">
        <p:scale>
          <a:sx n="85" d="100"/>
          <a:sy n="85" d="100"/>
        </p:scale>
        <p:origin x="394"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86283E3-9FEE-4175-9DCC-B71498A3626D}" type="datetimeFigureOut">
              <a:rPr lang="en-US" smtClean="0"/>
              <a:t>3/18/2022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C7C1D2-DC7E-413F-B62B-6BDFEE3979B3}"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197237"/>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86283E3-9FEE-4175-9DCC-B71498A3626D}" type="datetimeFigureOut">
              <a:rPr lang="en-US" smtClean="0"/>
              <a:t>3/18/2022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C7C1D2-DC7E-413F-B62B-6BDFEE3979B3}" type="slidenum">
              <a:rPr lang="en-US" smtClean="0"/>
              <a:t>‹#›</a:t>
            </a:fld>
            <a:endParaRPr lang="en-US"/>
          </a:p>
        </p:txBody>
      </p:sp>
    </p:spTree>
    <p:extLst>
      <p:ext uri="{BB962C8B-B14F-4D97-AF65-F5344CB8AC3E}">
        <p14:creationId xmlns:p14="http://schemas.microsoft.com/office/powerpoint/2010/main" val="31804665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86283E3-9FEE-4175-9DCC-B71498A3626D}" type="datetimeFigureOut">
              <a:rPr lang="en-US" smtClean="0"/>
              <a:t>3/18/2022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C7C1D2-DC7E-413F-B62B-6BDFEE3979B3}"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699198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86283E3-9FEE-4175-9DCC-B71498A3626D}" type="datetimeFigureOut">
              <a:rPr lang="en-US" smtClean="0"/>
              <a:t>3/18/2022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C7C1D2-DC7E-413F-B62B-6BDFEE3979B3}" type="slidenum">
              <a:rPr lang="en-US" smtClean="0"/>
              <a:t>‹#›</a:t>
            </a:fld>
            <a:endParaRPr lang="en-US"/>
          </a:p>
        </p:txBody>
      </p:sp>
    </p:spTree>
    <p:extLst>
      <p:ext uri="{BB962C8B-B14F-4D97-AF65-F5344CB8AC3E}">
        <p14:creationId xmlns:p14="http://schemas.microsoft.com/office/powerpoint/2010/main" val="4451368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86283E3-9FEE-4175-9DCC-B71498A3626D}" type="datetimeFigureOut">
              <a:rPr lang="en-US" smtClean="0"/>
              <a:t>3/18/2022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C7C1D2-DC7E-413F-B62B-6BDFEE3979B3}" type="slidenum">
              <a:rPr lang="en-US" smtClean="0"/>
              <a:t>‹#›</a:t>
            </a:fld>
            <a:endParaRPr lang="en-US"/>
          </a:p>
        </p:txBody>
      </p:sp>
    </p:spTree>
    <p:extLst>
      <p:ext uri="{BB962C8B-B14F-4D97-AF65-F5344CB8AC3E}">
        <p14:creationId xmlns:p14="http://schemas.microsoft.com/office/powerpoint/2010/main" val="32834876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86283E3-9FEE-4175-9DCC-B71498A3626D}" type="datetimeFigureOut">
              <a:rPr lang="en-US" smtClean="0"/>
              <a:t>3/18/2022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C7C1D2-DC7E-413F-B62B-6BDFEE3979B3}" type="slidenum">
              <a:rPr lang="en-US" smtClean="0"/>
              <a:t>‹#›</a:t>
            </a:fld>
            <a:endParaRPr lang="en-US"/>
          </a:p>
        </p:txBody>
      </p:sp>
    </p:spTree>
    <p:extLst>
      <p:ext uri="{BB962C8B-B14F-4D97-AF65-F5344CB8AC3E}">
        <p14:creationId xmlns:p14="http://schemas.microsoft.com/office/powerpoint/2010/main" val="12563170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286283E3-9FEE-4175-9DCC-B71498A3626D}" type="datetimeFigureOut">
              <a:rPr lang="en-US" smtClean="0"/>
              <a:t>3/18/2022</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C1C7C1D2-DC7E-413F-B62B-6BDFEE3979B3}" type="slidenum">
              <a:rPr lang="en-US" smtClean="0"/>
              <a:t>‹#›</a:t>
            </a:fld>
            <a:endParaRPr lang="en-US"/>
          </a:p>
        </p:txBody>
      </p:sp>
    </p:spTree>
    <p:extLst>
      <p:ext uri="{BB962C8B-B14F-4D97-AF65-F5344CB8AC3E}">
        <p14:creationId xmlns:p14="http://schemas.microsoft.com/office/powerpoint/2010/main" val="2160647286"/>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286283E3-9FEE-4175-9DCC-B71498A3626D}" type="datetimeFigureOut">
              <a:rPr lang="en-US" smtClean="0"/>
              <a:t>3/18/2022</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C1C7C1D2-DC7E-413F-B62B-6BDFEE3979B3}" type="slidenum">
              <a:rPr lang="en-US" smtClean="0"/>
              <a:t>‹#›</a:t>
            </a:fld>
            <a:endParaRPr lang="en-US"/>
          </a:p>
        </p:txBody>
      </p:sp>
    </p:spTree>
    <p:extLst>
      <p:ext uri="{BB962C8B-B14F-4D97-AF65-F5344CB8AC3E}">
        <p14:creationId xmlns:p14="http://schemas.microsoft.com/office/powerpoint/2010/main" val="74749114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286283E3-9FEE-4175-9DCC-B71498A3626D}" type="datetimeFigureOut">
              <a:rPr lang="en-US" smtClean="0"/>
              <a:t>3/18/2022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C7C1D2-DC7E-413F-B62B-6BDFEE3979B3}" type="slidenum">
              <a:rPr lang="en-US" smtClean="0"/>
              <a:t>‹#›</a:t>
            </a:fld>
            <a:endParaRPr lang="en-US"/>
          </a:p>
        </p:txBody>
      </p:sp>
    </p:spTree>
    <p:extLst>
      <p:ext uri="{BB962C8B-B14F-4D97-AF65-F5344CB8AC3E}">
        <p14:creationId xmlns:p14="http://schemas.microsoft.com/office/powerpoint/2010/main" val="11364777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86283E3-9FEE-4175-9DCC-B71498A3626D}" type="datetimeFigureOut">
              <a:rPr lang="en-US" smtClean="0"/>
              <a:t>3/18/2022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C7C1D2-DC7E-413F-B62B-6BDFEE3979B3}" type="slidenum">
              <a:rPr lang="en-US" smtClean="0"/>
              <a:t>‹#›</a:t>
            </a:fld>
            <a:endParaRPr lang="en-US"/>
          </a:p>
        </p:txBody>
      </p:sp>
    </p:spTree>
    <p:extLst>
      <p:ext uri="{BB962C8B-B14F-4D97-AF65-F5344CB8AC3E}">
        <p14:creationId xmlns:p14="http://schemas.microsoft.com/office/powerpoint/2010/main" val="31126079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86283E3-9FEE-4175-9DCC-B71498A3626D}" type="datetimeFigureOut">
              <a:rPr lang="en-US" smtClean="0"/>
              <a:t>3/18/2022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C7C1D2-DC7E-413F-B62B-6BDFEE3979B3}" type="slidenum">
              <a:rPr lang="en-US" smtClean="0"/>
              <a:t>‹#›</a:t>
            </a:fld>
            <a:endParaRPr lang="en-US"/>
          </a:p>
        </p:txBody>
      </p:sp>
    </p:spTree>
    <p:extLst>
      <p:ext uri="{BB962C8B-B14F-4D97-AF65-F5344CB8AC3E}">
        <p14:creationId xmlns:p14="http://schemas.microsoft.com/office/powerpoint/2010/main" val="9322304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286283E3-9FEE-4175-9DCC-B71498A3626D}" type="datetimeFigureOut">
              <a:rPr lang="en-US" smtClean="0"/>
              <a:t>3/18/2022</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C1C7C1D2-DC7E-413F-B62B-6BDFEE3979B3}"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85269253"/>
      </p:ext>
    </p:extLst>
  </p:cSld>
  <p:clrMap bg1="lt1" tx1="dk1" bg2="lt2" tx2="dk2" accent1="accent1" accent2="accent2" accent3="accent3" accent4="accent4" accent5="accent5" accent6="accent6" hlink="hlink" folHlink="folHlink"/>
  <p:sldLayoutIdLst>
    <p:sldLayoutId id="2147483982" r:id="rId1"/>
    <p:sldLayoutId id="2147483983" r:id="rId2"/>
    <p:sldLayoutId id="2147483984" r:id="rId3"/>
    <p:sldLayoutId id="2147483985" r:id="rId4"/>
    <p:sldLayoutId id="2147483986" r:id="rId5"/>
    <p:sldLayoutId id="2147483987" r:id="rId6"/>
    <p:sldLayoutId id="2147483988" r:id="rId7"/>
    <p:sldLayoutId id="2147483989" r:id="rId8"/>
    <p:sldLayoutId id="2147483990" r:id="rId9"/>
    <p:sldLayoutId id="2147483991" r:id="rId10"/>
    <p:sldLayoutId id="2147483992"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Automated Scavenging System</a:t>
            </a:r>
            <a:br>
              <a:rPr lang="en-US" dirty="0"/>
            </a:br>
            <a:endParaRPr lang="en-US" dirty="0"/>
          </a:p>
        </p:txBody>
      </p:sp>
      <p:sp>
        <p:nvSpPr>
          <p:cNvPr id="3" name="Subtitle 2"/>
          <p:cNvSpPr>
            <a:spLocks noGrp="1"/>
          </p:cNvSpPr>
          <p:nvPr>
            <p:ph type="subTitle" idx="1"/>
          </p:nvPr>
        </p:nvSpPr>
        <p:spPr/>
        <p:txBody>
          <a:bodyPr/>
          <a:lstStyle/>
          <a:p>
            <a:r>
              <a:rPr lang="en-US" dirty="0"/>
              <a:t>Presented by </a:t>
            </a:r>
          </a:p>
          <a:p>
            <a:r>
              <a:rPr lang="en-US" dirty="0"/>
              <a:t>Tarunvel V S(161ME306)</a:t>
            </a:r>
          </a:p>
        </p:txBody>
      </p:sp>
    </p:spTree>
    <p:extLst>
      <p:ext uri="{BB962C8B-B14F-4D97-AF65-F5344CB8AC3E}">
        <p14:creationId xmlns:p14="http://schemas.microsoft.com/office/powerpoint/2010/main" val="24338857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97618"/>
          </a:xfrm>
        </p:spPr>
        <p:txBody>
          <a:bodyPr>
            <a:normAutofit/>
          </a:bodyPr>
          <a:lstStyle/>
          <a:p>
            <a:pPr algn="ctr"/>
            <a:r>
              <a:rPr lang="en-US" sz="3600" dirty="0"/>
              <a:t>PROBLEM STATEMENT</a:t>
            </a:r>
          </a:p>
        </p:txBody>
      </p:sp>
      <p:sp>
        <p:nvSpPr>
          <p:cNvPr id="3" name="Content Placeholder 2"/>
          <p:cNvSpPr>
            <a:spLocks noGrp="1"/>
          </p:cNvSpPr>
          <p:nvPr>
            <p:ph idx="1"/>
          </p:nvPr>
        </p:nvSpPr>
        <p:spPr>
          <a:xfrm>
            <a:off x="838200" y="1785256"/>
            <a:ext cx="10515600" cy="4615543"/>
          </a:xfrm>
        </p:spPr>
        <p:txBody>
          <a:bodyPr/>
          <a:lstStyle/>
          <a:p>
            <a:r>
              <a:rPr lang="en-US" sz="2400" dirty="0"/>
              <a:t>The major problem in recent days is cleaning of large tunnels and pipes used by sewage systems in cities. </a:t>
            </a:r>
          </a:p>
          <a:p>
            <a:r>
              <a:rPr lang="en-US" sz="2400" dirty="0"/>
              <a:t>These large tunnels and pipes are cleaned by humans, who suffer from various diseases due to it.</a:t>
            </a:r>
          </a:p>
          <a:p>
            <a:r>
              <a:rPr lang="en-US" sz="2400" dirty="0"/>
              <a:t>The lifespan of these sewage cleaners are very short lived as 45% of these workers die within the age of 50.</a:t>
            </a:r>
          </a:p>
          <a:p>
            <a:r>
              <a:rPr lang="en-US" sz="2400" dirty="0"/>
              <a:t>Apart from death, they also fall victims of deadly diseases like asthma, Cholera, etc.</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23703" y="4693920"/>
            <a:ext cx="4920343" cy="1742439"/>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46310" y="4693920"/>
            <a:ext cx="3705225" cy="1706879"/>
          </a:xfrm>
          <a:prstGeom prst="rect">
            <a:avLst/>
          </a:prstGeom>
        </p:spPr>
      </p:pic>
    </p:spTree>
    <p:extLst>
      <p:ext uri="{BB962C8B-B14F-4D97-AF65-F5344CB8AC3E}">
        <p14:creationId xmlns:p14="http://schemas.microsoft.com/office/powerpoint/2010/main" val="3702525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SOLUTIONS TO THE PROBLEM</a:t>
            </a:r>
          </a:p>
        </p:txBody>
      </p:sp>
      <p:sp>
        <p:nvSpPr>
          <p:cNvPr id="3" name="Content Placeholder 2"/>
          <p:cNvSpPr>
            <a:spLocks noGrp="1"/>
          </p:cNvSpPr>
          <p:nvPr>
            <p:ph idx="1"/>
          </p:nvPr>
        </p:nvSpPr>
        <p:spPr/>
        <p:txBody>
          <a:bodyPr>
            <a:normAutofit/>
          </a:bodyPr>
          <a:lstStyle/>
          <a:p>
            <a:pPr marL="285750" indent="-285750"/>
            <a:r>
              <a:rPr lang="en-US" sz="2800" dirty="0"/>
              <a:t>The solution is designing a portable manhole cleaning machine. The machine will serve as a good alternative for the manhole cleaning workers. </a:t>
            </a:r>
          </a:p>
          <a:p>
            <a:pPr marL="285750" indent="-285750"/>
            <a:r>
              <a:rPr lang="en-US" sz="2800" dirty="0"/>
              <a:t>The device contains various kinematic linkages and pneumatic cylinders which can be operated with minimal power requirement. </a:t>
            </a:r>
          </a:p>
          <a:p>
            <a:pPr marL="285750" indent="-285750"/>
            <a:r>
              <a:rPr lang="en-US" sz="2800" dirty="0"/>
              <a:t>It will help to save the lives of many sewage workers.</a:t>
            </a:r>
          </a:p>
          <a:p>
            <a:pPr marL="285750" indent="-285750"/>
            <a:endParaRPr lang="en-US" dirty="0"/>
          </a:p>
          <a:p>
            <a:pPr marL="285750" indent="-285750"/>
            <a:r>
              <a:rPr lang="en-US" sz="2800" dirty="0">
                <a:solidFill>
                  <a:srgbClr val="FF0000"/>
                </a:solidFill>
              </a:rPr>
              <a:t>MANHOLE CLEANING</a:t>
            </a:r>
            <a:r>
              <a:rPr lang="en-US" dirty="0"/>
              <a:t>                                    </a:t>
            </a:r>
            <a:r>
              <a:rPr lang="en-US" sz="2800" dirty="0">
                <a:solidFill>
                  <a:schemeClr val="accent6"/>
                </a:solidFill>
              </a:rPr>
              <a:t>ROBOHOLE/MACHINE CLEANER</a:t>
            </a:r>
          </a:p>
        </p:txBody>
      </p:sp>
      <p:sp>
        <p:nvSpPr>
          <p:cNvPr id="6" name="Right Arrow 5"/>
          <p:cNvSpPr/>
          <p:nvPr/>
        </p:nvSpPr>
        <p:spPr>
          <a:xfrm>
            <a:off x="4667794" y="5033553"/>
            <a:ext cx="1759132" cy="72281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387464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SURVEY ON THE PROBLEM AND SOLUTION</a:t>
            </a:r>
          </a:p>
        </p:txBody>
      </p:sp>
      <p:sp>
        <p:nvSpPr>
          <p:cNvPr id="3" name="Content Placeholder 2"/>
          <p:cNvSpPr>
            <a:spLocks noGrp="1"/>
          </p:cNvSpPr>
          <p:nvPr>
            <p:ph idx="1"/>
          </p:nvPr>
        </p:nvSpPr>
        <p:spPr/>
        <p:txBody>
          <a:bodyPr/>
          <a:lstStyle/>
          <a:p>
            <a:r>
              <a:rPr lang="en-US" sz="2800" dirty="0"/>
              <a:t>On surveying about the manhole cleaning, it was found that the damped wastes releases highly toxic gases and overall mass of the blockage to be cleared is comparatively larger.</a:t>
            </a:r>
          </a:p>
          <a:p>
            <a:r>
              <a:rPr lang="en-US" sz="2800" dirty="0"/>
              <a:t> Thus high power tools are required for the cleaning process. The materials used are required to have high corrosion resistance and large load handling capacities.</a:t>
            </a:r>
          </a:p>
          <a:p>
            <a:pPr marL="0" indent="0">
              <a:buNone/>
            </a:pPr>
            <a:br>
              <a:rPr lang="en-US" dirty="0"/>
            </a:br>
            <a:endParaRPr lang="en-US" dirty="0"/>
          </a:p>
        </p:txBody>
      </p:sp>
    </p:spTree>
    <p:extLst>
      <p:ext uri="{BB962C8B-B14F-4D97-AF65-F5344CB8AC3E}">
        <p14:creationId xmlns:p14="http://schemas.microsoft.com/office/powerpoint/2010/main" val="31121475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838200" y="775063"/>
            <a:ext cx="10515600" cy="5401900"/>
          </a:xfrm>
        </p:spPr>
        <p:txBody>
          <a:bodyPr/>
          <a:lstStyle/>
          <a:p>
            <a:r>
              <a:rPr lang="en-US" sz="2400" b="0" dirty="0"/>
              <a:t>On the other side death ratio of the manhole cleaners are still rising to date. As Engineers we are responsible for providing perfect solutions to the problems faced by the manhole cleaners. </a:t>
            </a:r>
          </a:p>
          <a:p>
            <a:r>
              <a:rPr lang="en-US" sz="2400" b="0" dirty="0"/>
              <a:t>There are a variety of devices available for manhole cleaning but they are not cost efficient and user friendly.</a:t>
            </a:r>
          </a:p>
          <a:p>
            <a:endParaRPr lang="en-US" dirty="0"/>
          </a:p>
        </p:txBody>
      </p:sp>
      <p:pic>
        <p:nvPicPr>
          <p:cNvPr id="12" name="Picture 11" descr="Image result for sewage workers death in india till now"/>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1" y="2978331"/>
            <a:ext cx="10732614" cy="31986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73611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84406"/>
          </a:xfrm>
        </p:spPr>
        <p:txBody>
          <a:bodyPr/>
          <a:lstStyle/>
          <a:p>
            <a:pPr algn="ctr"/>
            <a:r>
              <a:rPr lang="en-US" dirty="0"/>
              <a:t>Initial product design</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815632" y="1558836"/>
            <a:ext cx="4894217" cy="4530361"/>
          </a:xfr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15057" y="1558835"/>
            <a:ext cx="4600575" cy="4530362"/>
          </a:xfrm>
          <a:prstGeom prst="rect">
            <a:avLst/>
          </a:prstGeom>
        </p:spPr>
      </p:pic>
    </p:spTree>
    <p:extLst>
      <p:ext uri="{BB962C8B-B14F-4D97-AF65-F5344CB8AC3E}">
        <p14:creationId xmlns:p14="http://schemas.microsoft.com/office/powerpoint/2010/main" val="29690017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Design calculations</a:t>
            </a:r>
          </a:p>
        </p:txBody>
      </p:sp>
      <p:sp>
        <p:nvSpPr>
          <p:cNvPr id="3" name="Content Placeholder 2"/>
          <p:cNvSpPr>
            <a:spLocks noGrp="1"/>
          </p:cNvSpPr>
          <p:nvPr>
            <p:ph idx="1"/>
          </p:nvPr>
        </p:nvSpPr>
        <p:spPr/>
        <p:txBody>
          <a:bodyPr>
            <a:normAutofit fontScale="85000" lnSpcReduction="20000"/>
          </a:bodyPr>
          <a:lstStyle/>
          <a:p>
            <a:r>
              <a:rPr lang="en-US" sz="3200" dirty="0"/>
              <a:t>1.size of manhole</a:t>
            </a:r>
            <a:br>
              <a:rPr lang="en-US" dirty="0"/>
            </a:br>
            <a:r>
              <a:rPr lang="en-US" dirty="0"/>
              <a:t>               1.1 Rectangular type manhole </a:t>
            </a:r>
            <a:br>
              <a:rPr lang="en-US" dirty="0"/>
            </a:br>
            <a:r>
              <a:rPr lang="en-US" dirty="0"/>
              <a:t>                       Minimum dimensions= </a:t>
            </a:r>
            <a:r>
              <a:rPr lang="en-US" i="1" dirty="0"/>
              <a:t>300mm x 300mm</a:t>
            </a:r>
            <a:br>
              <a:rPr lang="en-US" dirty="0"/>
            </a:br>
            <a:r>
              <a:rPr lang="en-US" dirty="0"/>
              <a:t>                       Maximum dimensions= </a:t>
            </a:r>
            <a:r>
              <a:rPr lang="en-US" i="1" dirty="0"/>
              <a:t>1200mm x 1200mm</a:t>
            </a:r>
            <a:br>
              <a:rPr lang="en-US" dirty="0"/>
            </a:br>
            <a:r>
              <a:rPr lang="en-US" dirty="0"/>
              <a:t>               1.2 Circular type manhole	</a:t>
            </a:r>
            <a:br>
              <a:rPr lang="en-US" dirty="0"/>
            </a:br>
            <a:r>
              <a:rPr lang="en-US" dirty="0"/>
              <a:t>                        Minimum diameter= </a:t>
            </a:r>
            <a:r>
              <a:rPr lang="en-US" i="1" dirty="0"/>
              <a:t>450mm</a:t>
            </a:r>
            <a:br>
              <a:rPr lang="en-US" dirty="0"/>
            </a:br>
            <a:r>
              <a:rPr lang="en-US" dirty="0"/>
              <a:t>                        Maximum diameter= </a:t>
            </a:r>
            <a:r>
              <a:rPr lang="en-US" i="1" dirty="0"/>
              <a:t>600mm </a:t>
            </a:r>
            <a:br>
              <a:rPr lang="en-US" dirty="0"/>
            </a:br>
            <a:r>
              <a:rPr lang="en-US" dirty="0"/>
              <a:t> </a:t>
            </a:r>
            <a:r>
              <a:rPr lang="en-US" sz="3200" dirty="0"/>
              <a:t>2. Total size of the PSB with respect to manhole</a:t>
            </a:r>
            <a:br>
              <a:rPr lang="en-US" dirty="0"/>
            </a:br>
            <a:r>
              <a:rPr lang="en-US" dirty="0"/>
              <a:t>                        Diameter= </a:t>
            </a:r>
            <a:r>
              <a:rPr lang="en-US" i="1" dirty="0"/>
              <a:t>400mm</a:t>
            </a:r>
            <a:br>
              <a:rPr lang="en-US" dirty="0"/>
            </a:br>
            <a:r>
              <a:rPr lang="en-US" dirty="0"/>
              <a:t>                         Length=</a:t>
            </a:r>
            <a:r>
              <a:rPr lang="en-US" i="1" dirty="0"/>
              <a:t>800mm</a:t>
            </a:r>
            <a:br>
              <a:rPr lang="en-US" dirty="0"/>
            </a:br>
            <a:r>
              <a:rPr lang="en-US" dirty="0"/>
              <a:t> </a:t>
            </a:r>
            <a:br>
              <a:rPr lang="en-US" dirty="0"/>
            </a:br>
            <a:r>
              <a:rPr lang="en-US" dirty="0"/>
              <a:t>  </a:t>
            </a:r>
            <a:r>
              <a:rPr lang="en-US" sz="3200" dirty="0"/>
              <a:t>3. pneumatic cylinder </a:t>
            </a:r>
            <a:br>
              <a:rPr lang="en-US" dirty="0"/>
            </a:br>
            <a:r>
              <a:rPr lang="en-US" dirty="0"/>
              <a:t>                         Stroke length=</a:t>
            </a:r>
            <a:r>
              <a:rPr lang="en-US" i="1" dirty="0"/>
              <a:t>75mm</a:t>
            </a:r>
            <a:br>
              <a:rPr lang="en-US" i="1" dirty="0"/>
            </a:br>
            <a:br>
              <a:rPr lang="en-US" dirty="0"/>
            </a:br>
            <a:r>
              <a:rPr lang="en-US" dirty="0"/>
              <a:t>  4.  path of travel of PSB into the manhole depth=</a:t>
            </a:r>
            <a:r>
              <a:rPr lang="en-US" i="1" dirty="0"/>
              <a:t>1000mm</a:t>
            </a:r>
            <a:br>
              <a:rPr lang="en-US" dirty="0"/>
            </a:br>
            <a:r>
              <a:rPr lang="en-US" dirty="0"/>
              <a:t> </a:t>
            </a:r>
            <a:br>
              <a:rPr lang="en-US" dirty="0"/>
            </a:br>
            <a:r>
              <a:rPr lang="en-US" dirty="0"/>
              <a:t>  5.amount of solid waste collected by the bucket for single take=</a:t>
            </a:r>
            <a:r>
              <a:rPr lang="en-US" i="1" dirty="0"/>
              <a:t>2kg</a:t>
            </a:r>
            <a:br>
              <a:rPr lang="en-US" dirty="0"/>
            </a:br>
            <a:r>
              <a:rPr lang="en-US" dirty="0"/>
              <a:t>         </a:t>
            </a:r>
            <a:r>
              <a:rPr lang="en-US" sz="1800" b="0" dirty="0"/>
              <a:t>(calculated based on the volume of the bucket and holding capacity)</a:t>
            </a:r>
            <a:endParaRPr lang="en-US" dirty="0"/>
          </a:p>
        </p:txBody>
      </p:sp>
    </p:spTree>
    <p:extLst>
      <p:ext uri="{BB962C8B-B14F-4D97-AF65-F5344CB8AC3E}">
        <p14:creationId xmlns:p14="http://schemas.microsoft.com/office/powerpoint/2010/main" val="26276988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USABILITY &amp; FEASIBILIY</a:t>
            </a:r>
          </a:p>
        </p:txBody>
      </p:sp>
      <p:sp>
        <p:nvSpPr>
          <p:cNvPr id="3" name="Content Placeholder 2"/>
          <p:cNvSpPr>
            <a:spLocks noGrp="1"/>
          </p:cNvSpPr>
          <p:nvPr>
            <p:ph idx="1"/>
          </p:nvPr>
        </p:nvSpPr>
        <p:spPr/>
        <p:txBody>
          <a:bodyPr>
            <a:normAutofit/>
          </a:bodyPr>
          <a:lstStyle/>
          <a:p>
            <a:r>
              <a:rPr lang="en-US" sz="2800" dirty="0"/>
              <a:t>The PSB is user friendly for the sewage workers as it has very simple working principle and mechanism. Large care is taken towards making the bot user-friendly for the workers So they can take the job of </a:t>
            </a:r>
            <a:r>
              <a:rPr lang="en-US" sz="2800" dirty="0" err="1"/>
              <a:t>operaters</a:t>
            </a:r>
            <a:r>
              <a:rPr lang="en-US" sz="2800" dirty="0"/>
              <a:t> instead of manual scavenging.</a:t>
            </a:r>
          </a:p>
          <a:p>
            <a:r>
              <a:rPr lang="en-US" sz="2800" dirty="0"/>
              <a:t>	Since the Bot can adapt to a large range of manhole dimensions it can be used for manholes and pipes of various sizes and dimensions.</a:t>
            </a:r>
          </a:p>
        </p:txBody>
      </p:sp>
    </p:spTree>
    <p:extLst>
      <p:ext uri="{BB962C8B-B14F-4D97-AF65-F5344CB8AC3E}">
        <p14:creationId xmlns:p14="http://schemas.microsoft.com/office/powerpoint/2010/main" val="29723432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Working principle</a:t>
            </a:r>
          </a:p>
        </p:txBody>
      </p:sp>
      <p:sp>
        <p:nvSpPr>
          <p:cNvPr id="3" name="Content Placeholder 2"/>
          <p:cNvSpPr>
            <a:spLocks noGrp="1"/>
          </p:cNvSpPr>
          <p:nvPr>
            <p:ph idx="1"/>
          </p:nvPr>
        </p:nvSpPr>
        <p:spPr/>
        <p:txBody>
          <a:bodyPr/>
          <a:lstStyle/>
          <a:p>
            <a:r>
              <a:rPr lang="en-US" sz="2400" dirty="0"/>
              <a:t>The working principle of the PSB is the simple expansion and retraction of the pneumatic cylinder, where the pneumatic cylinders transfer power to the kinematic linages. </a:t>
            </a:r>
          </a:p>
          <a:p>
            <a:r>
              <a:rPr lang="en-US" sz="2400" dirty="0"/>
              <a:t>Based on the expansion and retraction amount of the pneumatic cylinder kinematic, linkages contracts and expands for their further functions.</a:t>
            </a:r>
          </a:p>
          <a:p>
            <a:br>
              <a:rPr lang="en-US" dirty="0"/>
            </a:br>
            <a:endParaRPr lang="en-US" dirty="0"/>
          </a:p>
        </p:txBody>
      </p:sp>
      <p:pic>
        <p:nvPicPr>
          <p:cNvPr id="4" name="Picture 3"/>
          <p:cNvPicPr>
            <a:picLocks noChangeAspect="1"/>
          </p:cNvPicPr>
          <p:nvPr/>
        </p:nvPicPr>
        <p:blipFill>
          <a:blip r:embed="rId2"/>
          <a:stretch>
            <a:fillRect/>
          </a:stretch>
        </p:blipFill>
        <p:spPr>
          <a:xfrm>
            <a:off x="2603861" y="3709851"/>
            <a:ext cx="5103223" cy="2476504"/>
          </a:xfrm>
          <a:prstGeom prst="rect">
            <a:avLst/>
          </a:prstGeom>
        </p:spPr>
      </p:pic>
    </p:spTree>
    <p:extLst>
      <p:ext uri="{BB962C8B-B14F-4D97-AF65-F5344CB8AC3E}">
        <p14:creationId xmlns:p14="http://schemas.microsoft.com/office/powerpoint/2010/main" val="41418695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a:t>Working flow chart</a:t>
            </a:r>
            <a:br>
              <a:rPr lang="en-US" b="1" dirty="0"/>
            </a:br>
            <a:endParaRPr lang="en-US" dirty="0"/>
          </a:p>
        </p:txBody>
      </p:sp>
      <p:sp>
        <p:nvSpPr>
          <p:cNvPr id="3" name="Content Placeholder 2"/>
          <p:cNvSpPr>
            <a:spLocks noGrp="1"/>
          </p:cNvSpPr>
          <p:nvPr>
            <p:ph idx="1"/>
          </p:nvPr>
        </p:nvSpPr>
        <p:spPr/>
        <p:txBody>
          <a:bodyPr>
            <a:normAutofit/>
          </a:bodyPr>
          <a:lstStyle/>
          <a:p>
            <a:r>
              <a:rPr lang="en-US" b="0" dirty="0"/>
              <a:t> </a:t>
            </a:r>
            <a:r>
              <a:rPr lang="en-US" sz="2800" b="0" dirty="0"/>
              <a:t>starting of the winch motor</a:t>
            </a:r>
            <a:br>
              <a:rPr lang="en-US" sz="2800" b="0" dirty="0"/>
            </a:br>
            <a:br>
              <a:rPr lang="en-US" sz="2800" b="0" dirty="0"/>
            </a:br>
            <a:r>
              <a:rPr lang="en-US" sz="2800" b="0" dirty="0"/>
              <a:t>lowering of the main supporting part(into the manhole)</a:t>
            </a:r>
            <a:br>
              <a:rPr lang="en-US" sz="2800" b="0" dirty="0"/>
            </a:br>
            <a:br>
              <a:rPr lang="en-US" sz="2800" b="0" dirty="0"/>
            </a:br>
            <a:r>
              <a:rPr lang="en-US" sz="2800" b="0" dirty="0"/>
              <a:t>expansion of the gripper arm(using pneumatic cylinder)</a:t>
            </a:r>
            <a:br>
              <a:rPr lang="en-US" sz="2800" b="0" dirty="0"/>
            </a:br>
            <a:br>
              <a:rPr lang="en-US" sz="2800" b="0" dirty="0"/>
            </a:br>
            <a:r>
              <a:rPr lang="en-US" sz="2800" b="0" dirty="0"/>
              <a:t>collection of sewage waste in the manhole</a:t>
            </a:r>
            <a:br>
              <a:rPr lang="en-US" sz="2800" b="0" dirty="0"/>
            </a:br>
            <a:br>
              <a:rPr lang="en-US" sz="2800" b="0" dirty="0"/>
            </a:br>
            <a:r>
              <a:rPr lang="en-US" sz="2800" b="0" dirty="0"/>
              <a:t>removal of the sewage from the manhole</a:t>
            </a:r>
            <a:endParaRPr lang="en-US" sz="2800" dirty="0"/>
          </a:p>
        </p:txBody>
      </p:sp>
      <p:sp>
        <p:nvSpPr>
          <p:cNvPr id="4" name="Down Arrow 3"/>
          <p:cNvSpPr/>
          <p:nvPr/>
        </p:nvSpPr>
        <p:spPr>
          <a:xfrm>
            <a:off x="2830286" y="2220685"/>
            <a:ext cx="1062446" cy="49639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own Arrow 4"/>
          <p:cNvSpPr/>
          <p:nvPr/>
        </p:nvSpPr>
        <p:spPr>
          <a:xfrm>
            <a:off x="2830286" y="3000102"/>
            <a:ext cx="1062446" cy="49639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own Arrow 5"/>
          <p:cNvSpPr/>
          <p:nvPr/>
        </p:nvSpPr>
        <p:spPr>
          <a:xfrm>
            <a:off x="2830286" y="3838302"/>
            <a:ext cx="1062446" cy="49639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own Arrow 6"/>
          <p:cNvSpPr/>
          <p:nvPr/>
        </p:nvSpPr>
        <p:spPr>
          <a:xfrm>
            <a:off x="2830286" y="4605503"/>
            <a:ext cx="1062446" cy="49639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08795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Disadvantages of the existing methods</a:t>
            </a:r>
          </a:p>
        </p:txBody>
      </p:sp>
      <p:sp>
        <p:nvSpPr>
          <p:cNvPr id="3" name="Content Placeholder 2"/>
          <p:cNvSpPr>
            <a:spLocks noGrp="1"/>
          </p:cNvSpPr>
          <p:nvPr>
            <p:ph idx="1"/>
          </p:nvPr>
        </p:nvSpPr>
        <p:spPr/>
        <p:txBody>
          <a:bodyPr>
            <a:normAutofit/>
          </a:bodyPr>
          <a:lstStyle/>
          <a:p>
            <a:pPr marL="285750" indent="-285750"/>
            <a:r>
              <a:rPr lang="en-US" sz="2800" dirty="0"/>
              <a:t>The major disadvantages of the conventional manual cleaning is increased death ratio of workers</a:t>
            </a:r>
          </a:p>
          <a:p>
            <a:pPr marL="285750" indent="-285750"/>
            <a:r>
              <a:rPr lang="en-US" sz="2800" dirty="0"/>
              <a:t>The machine existing may not efficient for proper blockage clearance in the manhole. The cost of the existing machine is high and it is difficult to implant in society due various production causes.</a:t>
            </a:r>
          </a:p>
        </p:txBody>
      </p:sp>
    </p:spTree>
    <p:extLst>
      <p:ext uri="{BB962C8B-B14F-4D97-AF65-F5344CB8AC3E}">
        <p14:creationId xmlns:p14="http://schemas.microsoft.com/office/powerpoint/2010/main" val="12075565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Advantages</a:t>
            </a:r>
          </a:p>
        </p:txBody>
      </p:sp>
      <p:sp>
        <p:nvSpPr>
          <p:cNvPr id="3" name="Content Placeholder 2"/>
          <p:cNvSpPr>
            <a:spLocks noGrp="1"/>
          </p:cNvSpPr>
          <p:nvPr>
            <p:ph idx="1"/>
          </p:nvPr>
        </p:nvSpPr>
        <p:spPr/>
        <p:txBody>
          <a:bodyPr>
            <a:normAutofit/>
          </a:bodyPr>
          <a:lstStyle/>
          <a:p>
            <a:pPr marL="514350" indent="-514350">
              <a:buFont typeface="+mj-lt"/>
              <a:buAutoNum type="arabicPeriod"/>
            </a:pPr>
            <a:r>
              <a:rPr lang="en-US" sz="2800" dirty="0"/>
              <a:t>It will the better alternative for others devices present in the market</a:t>
            </a:r>
          </a:p>
          <a:p>
            <a:pPr marL="514350" indent="-514350">
              <a:buFont typeface="+mj-lt"/>
              <a:buAutoNum type="arabicPeriod"/>
            </a:pPr>
            <a:r>
              <a:rPr lang="en-US" sz="2800" dirty="0"/>
              <a:t>It would provide higher outcomes when compared to others.</a:t>
            </a:r>
          </a:p>
          <a:p>
            <a:pPr marL="514350" indent="-514350">
              <a:buFont typeface="+mj-lt"/>
              <a:buAutoNum type="arabicPeriod"/>
            </a:pPr>
            <a:r>
              <a:rPr lang="en-US" sz="2800" dirty="0"/>
              <a:t>The major advantage over other machines is cost efficient.</a:t>
            </a:r>
          </a:p>
          <a:p>
            <a:pPr marL="514350" indent="-514350">
              <a:buFont typeface="+mj-lt"/>
              <a:buAutoNum type="arabicPeriod"/>
            </a:pPr>
            <a:r>
              <a:rPr lang="en-US" sz="2800" dirty="0"/>
              <a:t>It will replace the conventional manhole cleaning process and help to save the invaluable lives of numerous manhole cleaners.</a:t>
            </a:r>
          </a:p>
          <a:p>
            <a:pPr marL="514350" indent="-514350">
              <a:buFont typeface="+mj-lt"/>
              <a:buAutoNum type="arabicPeriod"/>
            </a:pPr>
            <a:endParaRPr lang="en-US" sz="2800" dirty="0"/>
          </a:p>
        </p:txBody>
      </p:sp>
    </p:spTree>
    <p:extLst>
      <p:ext uri="{BB962C8B-B14F-4D97-AF65-F5344CB8AC3E}">
        <p14:creationId xmlns:p14="http://schemas.microsoft.com/office/powerpoint/2010/main" val="39999888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Disadvantages</a:t>
            </a:r>
          </a:p>
        </p:txBody>
      </p:sp>
      <p:sp>
        <p:nvSpPr>
          <p:cNvPr id="3" name="Content Placeholder 2"/>
          <p:cNvSpPr>
            <a:spLocks noGrp="1"/>
          </p:cNvSpPr>
          <p:nvPr>
            <p:ph idx="1"/>
          </p:nvPr>
        </p:nvSpPr>
        <p:spPr/>
        <p:txBody>
          <a:bodyPr>
            <a:normAutofit/>
          </a:bodyPr>
          <a:lstStyle/>
          <a:p>
            <a:r>
              <a:rPr lang="en-US" sz="3200" dirty="0"/>
              <a:t>The major drawback is the lack of proper vision inside the manhole for collection of the sewage waste.</a:t>
            </a:r>
          </a:p>
          <a:p>
            <a:r>
              <a:rPr lang="en-US" sz="3200" dirty="0"/>
              <a:t>The kind of problems can be rectified by further studies and improvements.</a:t>
            </a:r>
          </a:p>
        </p:txBody>
      </p:sp>
    </p:spTree>
    <p:extLst>
      <p:ext uri="{BB962C8B-B14F-4D97-AF65-F5344CB8AC3E}">
        <p14:creationId xmlns:p14="http://schemas.microsoft.com/office/powerpoint/2010/main" val="20673056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Further study &amp; improvements</a:t>
            </a:r>
          </a:p>
        </p:txBody>
      </p:sp>
      <p:sp>
        <p:nvSpPr>
          <p:cNvPr id="3" name="Content Placeholder 2"/>
          <p:cNvSpPr>
            <a:spLocks noGrp="1"/>
          </p:cNvSpPr>
          <p:nvPr>
            <p:ph idx="1"/>
          </p:nvPr>
        </p:nvSpPr>
        <p:spPr/>
        <p:txBody>
          <a:bodyPr>
            <a:normAutofit/>
          </a:bodyPr>
          <a:lstStyle/>
          <a:p>
            <a:r>
              <a:rPr lang="en-US" sz="2800" dirty="0"/>
              <a:t>we are in need of providing the sensing unit which contains various sensors for proper sensing of the movements happening inside the manhole, </a:t>
            </a:r>
            <a:br>
              <a:rPr lang="en-US" sz="2800" dirty="0"/>
            </a:br>
            <a:r>
              <a:rPr lang="en-US" sz="2800" dirty="0"/>
              <a:t>Another important improvement is providing the lighting system with camera, which visualizes the movements happening in the manhole in the display kept on the control panel.</a:t>
            </a:r>
          </a:p>
        </p:txBody>
      </p:sp>
    </p:spTree>
    <p:extLst>
      <p:ext uri="{BB962C8B-B14F-4D97-AF65-F5344CB8AC3E}">
        <p14:creationId xmlns:p14="http://schemas.microsoft.com/office/powerpoint/2010/main" val="1966108889"/>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78</TotalTime>
  <Words>794</Words>
  <Application>Microsoft Office PowerPoint</Application>
  <PresentationFormat>Widescreen</PresentationFormat>
  <Paragraphs>46</Paragraphs>
  <Slides>14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Calibri</vt:lpstr>
      <vt:lpstr>Calibri Light</vt:lpstr>
      <vt:lpstr>Retrospect</vt:lpstr>
      <vt:lpstr>Automated Scavenging System </vt:lpstr>
      <vt:lpstr>PROBLEM STATEMENT</vt:lpstr>
      <vt:lpstr>SOLUTIONS TO THE PROBLEM</vt:lpstr>
      <vt:lpstr>SURVEY ON THE PROBLEM AND SOLUTION</vt:lpstr>
      <vt:lpstr> </vt:lpstr>
      <vt:lpstr>Initial product design</vt:lpstr>
      <vt:lpstr>Design calculations</vt:lpstr>
      <vt:lpstr>USABILITY &amp; FEASIBILIY</vt:lpstr>
      <vt:lpstr>Working principle</vt:lpstr>
      <vt:lpstr>Working flow chart </vt:lpstr>
      <vt:lpstr>Disadvantages of the existing methods</vt:lpstr>
      <vt:lpstr>Advantages</vt:lpstr>
      <vt:lpstr>Disadvantages</vt:lpstr>
      <vt:lpstr>Further study &amp; improvements</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Pipeline sewer bort  (PSB)</dc:title>
  <dc:creator>tarun vel</dc:creator>
  <cp:lastModifiedBy>tarun vel</cp:lastModifiedBy>
  <cp:revision>12</cp:revision>
  <dcterms:created xsi:type="dcterms:W3CDTF">2018-10-14T14:53:54Z</dcterms:created>
  <dcterms:modified xsi:type="dcterms:W3CDTF">2022-03-18T05:01:27Z</dcterms:modified>
</cp:coreProperties>
</file>